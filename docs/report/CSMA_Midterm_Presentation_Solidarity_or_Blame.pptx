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2c4646e8524e6f" /><Relationship Type="http://schemas.openxmlformats.org/officeDocument/2006/relationships/extended-properties" Target="/docProps/app.xml" Id="Rdf937c73337b4a02" /><Relationship Type="http://schemas.openxmlformats.org/officeDocument/2006/relationships/officeDocument" Target="/ppt/presentation.xml" Id="Rf97ad38e2c2348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b23445b31f40a8"/>
  </p:sldMasterIdLst>
  <p:notesMasterIdLst>
    <p:notesMasterId xmlns:r="http://schemas.openxmlformats.org/officeDocument/2006/relationships" r:id="Rd24bd581d4ec433d"/>
  </p:notesMasterIdLst>
  <p:sldIdLst>
    <p:sldId xmlns:r="http://schemas.openxmlformats.org/officeDocument/2006/relationships" id="256" r:id="Rc2eb67637a8141f3"/>
    <p:sldId xmlns:r="http://schemas.openxmlformats.org/officeDocument/2006/relationships" id="257" r:id="R16bb7ab2010e4667"/>
    <p:sldId xmlns:r="http://schemas.openxmlformats.org/officeDocument/2006/relationships" id="258" r:id="R294304999554483f"/>
    <p:sldId xmlns:r="http://schemas.openxmlformats.org/officeDocument/2006/relationships" id="259" r:id="Redaa1611d7084827"/>
    <p:sldId xmlns:r="http://schemas.openxmlformats.org/officeDocument/2006/relationships" id="260" r:id="R619eb97daa9541d0"/>
    <p:sldId xmlns:r="http://schemas.openxmlformats.org/officeDocument/2006/relationships" id="261" r:id="R82515e9f67224d50"/>
    <p:sldId xmlns:r="http://schemas.openxmlformats.org/officeDocument/2006/relationships" id="262" r:id="Re84dee0134f843f2"/>
    <p:sldId xmlns:r="http://schemas.openxmlformats.org/officeDocument/2006/relationships" id="263" r:id="Rb68d8b7ea3a64f0e"/>
    <p:sldId xmlns:r="http://schemas.openxmlformats.org/officeDocument/2006/relationships" id="264" r:id="Redc6709410324e08"/>
    <p:sldId xmlns:r="http://schemas.openxmlformats.org/officeDocument/2006/relationships" id="265" r:id="Re619ce249e3f4dba"/>
    <p:sldId xmlns:r="http://schemas.openxmlformats.org/officeDocument/2006/relationships" id="266" r:id="Ra775f6258e3348d8"/>
    <p:sldId xmlns:r="http://schemas.openxmlformats.org/officeDocument/2006/relationships" id="267" r:id="R34941508ecde4d2f"/>
    <p:sldId xmlns:r="http://schemas.openxmlformats.org/officeDocument/2006/relationships" id="268" r:id="Ra2196741bd9a446f"/>
    <p:sldId xmlns:r="http://schemas.openxmlformats.org/officeDocument/2006/relationships" id="269" r:id="R476962f0f50c44de"/>
    <p:sldId xmlns:r="http://schemas.openxmlformats.org/officeDocument/2006/relationships" id="270" r:id="Rc1213e0962e84e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d61cddc4434923" /><Relationship Type="http://schemas.openxmlformats.org/officeDocument/2006/relationships/slideMaster" Target="/ppt/slideMasters/slideMaster1.xml" Id="Rf0b23445b31f40a8" /><Relationship Type="http://schemas.openxmlformats.org/officeDocument/2006/relationships/notesMaster" Target="/ppt/notesMasters/notesMaster1.xml" Id="Rd24bd581d4ec433d" /><Relationship Type="http://schemas.openxmlformats.org/officeDocument/2006/relationships/presProps" Target="/ppt/presProps.xml" Id="R4e27fd0c1ef148c2" /><Relationship Type="http://schemas.openxmlformats.org/officeDocument/2006/relationships/tableStyles" Target="/ppt/tableStyles.xml" Id="Rbd3935209d4c42c9" /><Relationship Type="http://schemas.openxmlformats.org/officeDocument/2006/relationships/slide" Target="/ppt/slides/slide1.xml" Id="Rc2eb67637a8141f3" /><Relationship Type="http://schemas.openxmlformats.org/officeDocument/2006/relationships/slide" Target="/ppt/slides/slide2.xml" Id="R16bb7ab2010e4667" /><Relationship Type="http://schemas.openxmlformats.org/officeDocument/2006/relationships/slide" Target="/ppt/slides/slide3.xml" Id="R294304999554483f" /><Relationship Type="http://schemas.openxmlformats.org/officeDocument/2006/relationships/slide" Target="/ppt/slides/slide4.xml" Id="Redaa1611d7084827" /><Relationship Type="http://schemas.openxmlformats.org/officeDocument/2006/relationships/slide" Target="/ppt/slides/slide5.xml" Id="R619eb97daa9541d0" /><Relationship Type="http://schemas.openxmlformats.org/officeDocument/2006/relationships/slide" Target="/ppt/slides/slide6.xml" Id="R82515e9f67224d50" /><Relationship Type="http://schemas.openxmlformats.org/officeDocument/2006/relationships/slide" Target="/ppt/slides/slide7.xml" Id="Re84dee0134f843f2" /><Relationship Type="http://schemas.openxmlformats.org/officeDocument/2006/relationships/slide" Target="/ppt/slides/slide8.xml" Id="Rb68d8b7ea3a64f0e" /><Relationship Type="http://schemas.openxmlformats.org/officeDocument/2006/relationships/slide" Target="/ppt/slides/slide9.xml" Id="Redc6709410324e08" /><Relationship Type="http://schemas.openxmlformats.org/officeDocument/2006/relationships/slide" Target="/ppt/slides/slide10.xml" Id="Re619ce249e3f4dba" /><Relationship Type="http://schemas.openxmlformats.org/officeDocument/2006/relationships/slide" Target="/ppt/slides/slide11.xml" Id="Ra775f6258e3348d8" /><Relationship Type="http://schemas.openxmlformats.org/officeDocument/2006/relationships/slide" Target="/ppt/slides/slide12.xml" Id="R34941508ecde4d2f" /><Relationship Type="http://schemas.openxmlformats.org/officeDocument/2006/relationships/slide" Target="/ppt/slides/slide13.xml" Id="Ra2196741bd9a446f" /><Relationship Type="http://schemas.openxmlformats.org/officeDocument/2006/relationships/slide" Target="/ppt/slides/slide14.xml" Id="R476962f0f50c44de" /><Relationship Type="http://schemas.openxmlformats.org/officeDocument/2006/relationships/slide" Target="/ppt/slides/slide15.xml" Id="Rc1213e0962e84e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a5c90d04534e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0ac3aed87f4e6f" /><Relationship Type="http://schemas.openxmlformats.org/officeDocument/2006/relationships/notesMaster" Target="/ppt/notesMasters/notesMaster1.xml" Id="Rc55b1931124444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165073c4c1470a" /><Relationship Type="http://schemas.openxmlformats.org/officeDocument/2006/relationships/notesMaster" Target="/ppt/notesMasters/notesMaster1.xml" Id="R32ea3259521e4f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7248227b2d4616" /><Relationship Type="http://schemas.openxmlformats.org/officeDocument/2006/relationships/notesMaster" Target="/ppt/notesMasters/notesMaster1.xml" Id="R311ef3bf687448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fe4e716b584d2c" /><Relationship Type="http://schemas.openxmlformats.org/officeDocument/2006/relationships/notesMaster" Target="/ppt/notesMasters/notesMaster1.xml" Id="R090d7797d8bd4e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18be99d1a84d91" /><Relationship Type="http://schemas.openxmlformats.org/officeDocument/2006/relationships/notesMaster" Target="/ppt/notesMasters/notesMaster1.xml" Id="R5958bee5fe664e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6500bb40af4a95" /><Relationship Type="http://schemas.openxmlformats.org/officeDocument/2006/relationships/notesMaster" Target="/ppt/notesMasters/notesMaster1.xml" Id="R0825ee18b7b542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d6f22004f04003" /><Relationship Type="http://schemas.openxmlformats.org/officeDocument/2006/relationships/notesMaster" Target="/ppt/notesMasters/notesMaster1.xml" Id="Rc04acb19683c4f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2021551b244ad4" /><Relationship Type="http://schemas.openxmlformats.org/officeDocument/2006/relationships/notesMaster" Target="/ppt/notesMasters/notesMaster1.xml" Id="Rf391184e55c348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47bc27140e4e9d" /><Relationship Type="http://schemas.openxmlformats.org/officeDocument/2006/relationships/notesMaster" Target="/ppt/notesMasters/notesMaster1.xml" Id="Rdecc99377a7a49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44d79d4a444a07" /><Relationship Type="http://schemas.openxmlformats.org/officeDocument/2006/relationships/notesMaster" Target="/ppt/notesMasters/notesMaster1.xml" Id="R5f850b88930f4e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64df65d5d64eb3" /><Relationship Type="http://schemas.openxmlformats.org/officeDocument/2006/relationships/notesMaster" Target="/ppt/notesMasters/notesMaster1.xml" Id="R92520f22bb0b44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29cc99beb04399" /><Relationship Type="http://schemas.openxmlformats.org/officeDocument/2006/relationships/notesMaster" Target="/ppt/notesMasters/notesMaster1.xml" Id="R4fe914fa619f47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af4e371f3f4650" /><Relationship Type="http://schemas.openxmlformats.org/officeDocument/2006/relationships/notesMaster" Target="/ppt/notesMasters/notesMaster1.xml" Id="Rd6b8da09b50443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30c1a4a8604585" /><Relationship Type="http://schemas.openxmlformats.org/officeDocument/2006/relationships/notesMaster" Target="/ppt/notesMasters/notesMaster1.xml" Id="R749c7fc323f34c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1d83fb3104422a" /><Relationship Type="http://schemas.openxmlformats.org/officeDocument/2006/relationships/notesMaster" Target="/ppt/notesMasters/notesMaster1.xml" Id="R4d39e7a56f1d46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- Vanshit (about 1 minute). State the question, the Reddit corpus, and that this is a mid-term evidence update rather than a final causal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Vanshit, about 1.5 minutes. Explain the within-Reddit pilot and the status of each hypothesis. The original cross-platform aim remains future work because the present corpus contains Reddit data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Krish, about 1 minute. Explain the four literature streams. The key distinction is that sentiment, stance, support, and network contact measure different things.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Krish, about 1.25 minutes. Give one sentence per study: source, method, finding, and the exact design choice adopted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Krish, about 1.25 minutes. Stress that labor-market exposure and online discourse are different evidence types. Network measures also need text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Krish, about 1.25 minutes. Explain the staged NLP plan: lexical retrieval, human coding, simple sentiment baseline, then transformer evaluation and topic stability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Vaibhav, about 1 minute. Describe the raw data, provenance, coverage audit, and why the team reports corpus denominators.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Tanya, about 1 minute. Walk through the preparation and comparison pipeline. The lexical screens retrieve candidates and do not create validated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Tanya, about 1.25 minutes. Explain the safeguards at each stage. Mention grouped or time-aware model splits to reduce leakage from repeated authors and similar comments.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Tanya, about 1.5 minutes. Present the main comparison. Say “in this collected window” every time. The result is not a claim that one community is inherently more negative.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Tanya, about 1 minute. Use this slide to answer the teacher’s comparison request and show that the conclusion is not based on one keyword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Krish, about 1 minute. Explain why the baseline is transparent and why no final stance claim is made before human coding.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Dividh, about 1 minute. Describe the Gephi exports, direction and weights. Avoid calling degree or reply count “influence” before the text labels are joined.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Vanshit, about 1 minute. Give the conclusion and limitations together. This is the defensible answer to “what did you find?” at mid-term.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Vanshit closes in about 45 seconds. Each member states their contribution in one sentence. The team should be ready to explain the comparison denominator and why lexical labels are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8d096f3b74c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a63452feb74e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1d887d68f4b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2e09089f742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05dc7d651457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1aa16e4f843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C521D7-ABC8-422D-9AF7-E4EE1C515A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4B2CEE-72B6-498C-9B7F-194524624B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92DD25-91B6-4E9F-814E-DDE5C3EBBF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C99922-4298-4415-8386-330F2020D9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0929550-0C54-4B39-BDB7-B7BD216F4F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3E1C0B-B8C1-42B3-A207-8280AEE6C1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BA5133-A330-4339-A0B0-DA5E69F7F8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B023DC-498A-4AB0-9629-4BAE009106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3604B5-BEC6-41B0-85FA-22550E93FD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ADA956-9081-4F99-ACE4-725DFF3137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b3ab2c29f64f1e" /><Relationship Type="http://schemas.openxmlformats.org/officeDocument/2006/relationships/slideLayout" Target="/ppt/slideLayouts/slideLayout1.xml" Id="Rf6f36f0c448d411b" /><Relationship Type="http://schemas.openxmlformats.org/officeDocument/2006/relationships/slideLayout" Target="/ppt/slideLayouts/slideLayout2.xml" Id="R9d020c0b333e4949" /><Relationship Type="http://schemas.openxmlformats.org/officeDocument/2006/relationships/slideLayout" Target="/ppt/slideLayouts/slideLayout3.xml" Id="R9082e36d4e77415e" /><Relationship Type="http://schemas.openxmlformats.org/officeDocument/2006/relationships/slideLayout" Target="/ppt/slideLayouts/slideLayout4.xml" Id="R1d8db88bc0564f78" /><Relationship Type="http://schemas.openxmlformats.org/officeDocument/2006/relationships/slideLayout" Target="/ppt/slideLayouts/slideLayout5.xml" Id="Rb42e0f46e1114512" /><Relationship Type="http://schemas.openxmlformats.org/officeDocument/2006/relationships/slideLayout" Target="/ppt/slideLayouts/slideLayout6.xml" Id="Rf34f7f8f157845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f36f0c448d411b"/>
    <p:sldLayoutId xmlns:r="http://schemas.openxmlformats.org/officeDocument/2006/relationships" id="2147483650" r:id="R9d020c0b333e4949"/>
    <p:sldLayoutId xmlns:r="http://schemas.openxmlformats.org/officeDocument/2006/relationships" id="2147483651" r:id="R9082e36d4e77415e"/>
    <p:sldLayoutId xmlns:r="http://schemas.openxmlformats.org/officeDocument/2006/relationships" id="2147483652" r:id="R1d8db88bc0564f78"/>
    <p:sldLayoutId xmlns:r="http://schemas.openxmlformats.org/officeDocument/2006/relationships" id="2147483653" r:id="Rb42e0f46e1114512"/>
    <p:sldLayoutId xmlns:r="http://schemas.openxmlformats.org/officeDocument/2006/relationships" id="2147483654" r:id="Rf34f7f8f157845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faf3c08f8c44cb" /><Relationship Type="http://schemas.openxmlformats.org/officeDocument/2006/relationships/notesSlide" Target="/ppt/notesSlides/notesSlide1.xml" Id="Rc615a25496ca45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1a467848d742de" /><Relationship Type="http://schemas.openxmlformats.org/officeDocument/2006/relationships/notesSlide" Target="/ppt/notesSlides/notesSlide2.xml" Id="R8bfcc29d5ea841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30916d7c26409e" /><Relationship Type="http://schemas.openxmlformats.org/officeDocument/2006/relationships/notesSlide" Target="/ppt/notesSlides/notesSlide3.xml" Id="R1e08335edc8b45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3c3932c4df4f5f" /><Relationship Type="http://schemas.openxmlformats.org/officeDocument/2006/relationships/notesSlide" Target="/ppt/notesSlides/notesSlide4.xml" Id="R85407b6e580147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d73f03ed114eeb" /><Relationship Type="http://schemas.openxmlformats.org/officeDocument/2006/relationships/notesSlide" Target="/ppt/notesSlides/notesSlide5.xml" Id="R6a593221686848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790ba1b8d44e56" /><Relationship Type="http://schemas.openxmlformats.org/officeDocument/2006/relationships/notesSlide" Target="/ppt/notesSlides/notesSlide6.xml" Id="Ra26fc7bb999942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dbe4f63414664" /><Relationship Type="http://schemas.openxmlformats.org/officeDocument/2006/relationships/notesSlide" Target="/ppt/notesSlides/notesSlide7.xml" Id="Ra6b50889afca4d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689c03bd7d4c3b" /><Relationship Type="http://schemas.openxmlformats.org/officeDocument/2006/relationships/notesSlide" Target="/ppt/notesSlides/notesSlide8.xml" Id="R2b2069bd185c46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26348d5a104c41" /><Relationship Type="http://schemas.openxmlformats.org/officeDocument/2006/relationships/notesSlide" Target="/ppt/notesSlides/notesSlide9.xml" Id="R2e048b0c15e242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4d3683ba5a4d11" /><Relationship Type="http://schemas.openxmlformats.org/officeDocument/2006/relationships/notesSlide" Target="/ppt/notesSlides/notesSlide10.xml" Id="R0a787065781143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f35d40f74e49db" /><Relationship Type="http://schemas.openxmlformats.org/officeDocument/2006/relationships/notesSlide" Target="/ppt/notesSlides/notesSlide11.xml" Id="Rb05bab4a65a943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684c30c9984be9" /><Relationship Type="http://schemas.openxmlformats.org/officeDocument/2006/relationships/notesSlide" Target="/ppt/notesSlides/notesSlide12.xml" Id="R040ec122d5a641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21e94b2fd94a7f" /><Relationship Type="http://schemas.openxmlformats.org/officeDocument/2006/relationships/notesSlide" Target="/ppt/notesSlides/notesSlide13.xml" Id="R9ced98a997334c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40dc8a6914dd0" /><Relationship Type="http://schemas.openxmlformats.org/officeDocument/2006/relationships/notesSlide" Target="/ppt/notesSlides/notesSlide14.xml" Id="Ra224070f5a4e43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e902a77103443a" /><Relationship Type="http://schemas.openxmlformats.org/officeDocument/2006/relationships/notesSlide" Target="/ppt/notesSlides/notesSlide15.xml" Id="R27202c6a5b7542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55AF0-3A40-4CF3-900E-B774D250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3C101-E890-4CC1-BF6C-44A5C09D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3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BBCA5-D4BD-40D2-8376-8FD36DB7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9CD3D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9CD3D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CD3D8"/>
                </a:solidFill>
                <a:latin typeface="Aptos"/>
                <a:ea typeface="Aptos"/>
                <a:cs typeface="Aptos"/>
              </a:rPr>
              <a:t>COMPUTATIONAL SOCIAL MEDIA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5B549-81F0-412C-91E9-8CAFA041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Solidarity or Blame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E37B5-335E-4D2F-9E45-10591243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CECE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CECE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CEF"/>
                </a:solidFill>
                <a:latin typeface="Aptos"/>
                <a:ea typeface="Aptos"/>
                <a:cs typeface="Aptos"/>
              </a:rPr>
              <a:t>How technology employment disruption is discussed across Reddit communities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61353-1F57-44BB-9736-BA18EEDA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9D7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9D7D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D7DD"/>
                </a:solidFill>
                <a:latin typeface="Aptos"/>
                <a:ea typeface="Aptos"/>
                <a:cs typeface="Aptos"/>
              </a:rPr>
              <a:t>Mid-term evaluation, Phase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E0C48-1FFD-4EDA-90DD-B9226EA3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CSE3729, Group 1, 6 October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997DB-5E3E-482C-8086-360D9B14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9D7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B9D7D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D7DD"/>
                </a:solidFill>
                <a:latin typeface="Aptos"/>
                <a:ea typeface="Aptos"/>
                <a:cs typeface="Aptos"/>
              </a:rPr>
              <a:t>Vanshit Ahuja, Vaibhav Jain, Dividh Vijay, Tanya, Krish</a:t>
            </a:r>
          </a:p>
        </p:txBody>
      </p:sp>
    </p:spTree>
    <p:extLst>
      <p:ext uri="{BB962C8B-B14F-4D97-AF65-F5344CB8AC3E}">
        <p14:creationId xmlns:p14="http://schemas.microsoft.com/office/powerpoint/2010/main" val="1418525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E46AC-7764-4D18-A16D-7407101B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7B9BF-4ABA-4466-AF33-BB2E2C64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Research question and hypotheses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36F93-CAD5-41DA-9C1C-02487728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Current scope: a within-Reddit comparison of community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EBD6F-BA18-4A39-BC44-DDD288F9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3D7BA-CCBD-4FAC-AA8A-05ADE82F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57B84-DB95-4C03-AD81-2B8EE8F3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How do community setting and reply context shape support, explanation, and blame in discussions of technology employment disruption?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5FD66-F259-45BD-93CE-E600D949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Phase 2 asks whether the first measurable difference appears between communities.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9083E-99FF-4E5C-8C43-36F9A73B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048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2FBAB-B039-431D-9E1D-E1B52C9E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H1  Community concentration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B2FA8-ACDE-4972-8752-0B0E9B46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Employment-disruption language differs between the two subreddits. Preliminary support.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77EB7-A25A-41AB-B723-8BB249C7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90875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H2  Discourse function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85882-52AE-402B-A917-442EA0E1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57575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Worker-centred support and industry framing differ by community. Human coding required.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3F80D-4BB0-48AD-B79B-983A92A3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910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H3  Reply 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67C69-83E1-4291-B50A-64E17BA8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Validated solidarity and blame labels have different reply patterns. Not yet tested.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8E05C-5B41-4C35-B350-07816481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CSMA mid-term, Group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99893-357B-4E64-A5AD-32FDA678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2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33535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AEA4A9-B8E5-48FF-93C2-465E88FC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24CFC-746F-4E49-A0F0-12D3CC60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Four research streams define the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EE75E-56FB-4AD9-BC3F-C9DFDC51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The report contains the complete 15-study comparison with data, method, result, limitation, and project 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4E663-E52B-412D-8522-E8D98828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945AD-452F-4827-BEDB-5F4D303D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80D85-C5E7-4691-81A5-AB733506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Employment disruption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F3D92-5CC2-48F0-BE9C-F2867C72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4787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Automation, task exposure, productivity, and layoff discourse can point in different directions.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FB0EB-8A00-4D20-B5B7-82269995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86351-1B27-4585-97C3-63C6495C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241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Reddit 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513AD-7374-4B1F-B48C-D4367D60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2417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People seek practical and emotional support, but replies do not always match what the author needs.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29DF2-999C-4AD4-AE29-8E3721B2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C5E2E-9CAA-45F4-9FD4-806D9281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004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NLP measurement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2D143-ADAD-4CFB-8022-54A0629B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0047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Sentiment, stance, and topic are different targets. Human labels must define solidarity and blame.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00E99-C7C5-4785-A849-DF8A1DB5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FB6E9-94F9-4BC5-83AB-CC3AA12F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767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Network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27108-8E50-4CD1-97FD-F83893E0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7677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Reply and sharing links record contact. They do not prove agreement, support, or influence.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80382-0751-4DE5-9983-903E1669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287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7F3F4"/>
          </a:solidFill>
          <a:ln xmlns:a="http://schemas.openxmlformats.org/drawingml/2006/main" w="9525">
            <a:solidFill>
              <a:srgbClr val="B8D9D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663C9-645C-4106-9A34-488EF473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985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0187"/>
          </a:bodyPr>
          <a:lstStyle xmlns:a="http://schemas.openxmlformats.org/drawingml/2006/main">
            <a:defPPr algn="l">
              <a:defRPr sz="14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Research gap: no reviewed study combines a controlled subreddit comparison, human-coded solidarity or blame, and reply-network 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95F27-AFEF-4500-BE40-D9F02C70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CSMA mid-term, Group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BF8A3-EAB5-4AB7-9AD1-451A1505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2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22574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21FFC-5C97-441E-8D7D-C7BA58D5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44029-2F6A-431D-9C28-6F251128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Recent Reddit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7CD92-9399-4556-A832-E80EB9B8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Five studies closest to the problem and research ethics.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A1430-B4BA-4F93-BD98-D4E9BD12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DC55D-6850-4954-9FE9-019FC8D365D1}"/>
              </a:ext>
            </a:extLst>
          </p:cNvPr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82375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52625"/>
                <a:gridCol w="2190750"/>
                <a:gridCol w="1905000"/>
                <a:gridCol w="2857500"/>
                <a:gridCol w="2476500"/>
              </a:tblGrid>
              <a:tr h="635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Study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Data or source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Result and limit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we adopt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Bose (2026)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763 X posts; 647 Reddit posts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Keyword and account comparisons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Capital posts had more reach on X, not Reddit; preprint and narrow accounts.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Control community and platform context; audit keywords.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Yin et al. (2025)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Interviews with 16 Reddit users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Qualitative support analysis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Users sought several support types; response mismatch mattered.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Code support type and reply function.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Ton (2025)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72 profession subreddits, 2009-2024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Text models, regression, synthetic control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Threat and adaptation coexisted; profession-level preprint.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Separate displacement, adaptation, and productivity.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Naing and Udomwong (2024)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202,905 Reddit comments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Topics, VADER, SWOT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Job-market concern appeared among mixed views; product-focused corpus.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Use topics and sentiment only as baselines.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Reagle (2022)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22 studies and 10 author interviews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Search-based ethics audit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Quoted Reddit text often remained discoverable.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Keep usernames and record-level text out of GitHub.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3CBBD-AF17-44DF-9972-A71C2CBE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CSMA mid-term, Group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13ECB-0DBB-4279-A5C6-D2942A00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2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55403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354F9-9499-4555-B6C5-E998CBC8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1EA2B-0235-40B2-B85E-CDB1D0B1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Employment and network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EFC55-4AEB-4ACD-8469-2B6889C6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Substantive studies explain why exposure, productivity, discussion, and diffusion need separate measures.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71358-A070-4F69-AF03-3B343A20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2F74A-68F7-4998-91CD-E829FD2DF643}"/>
              </a:ext>
            </a:extLst>
          </p:cNvPr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82375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52625"/>
                <a:gridCol w="2190750"/>
                <a:gridCol w="1905000"/>
                <a:gridCol w="2857500"/>
                <a:gridCol w="2476500"/>
              </a:tblGrid>
              <a:tr h="635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Study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Data or source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Result and limit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we adopt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Brynjolfsson et al. (2025)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5,179 support agents in one firm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Staggered adoption analysis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Productivity rose about 14%; one firm and occupation.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Include opportunity narratives, not only displacement.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Eloundou et al. (2024)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O*NET tasks with human and GPT-4 ratings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Task-exposure rubric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80% had at least 10% task exposure; exposure is not job loss.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Track AI and work change separately.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Acemoglu and Restrepo (2020)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US local labor markets and robot exposure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Shift-share regressions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Robot exposure reduced local jobs and wages; earlier automation era.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Separate automation from employer and economic explanations.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Notarmuzi et al. (2022)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Nearly one billion events on three platforms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Cascade scaling analysis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Shared diffusion patterns appeared; no Reddit stance evidence.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Measure reach and depth separately from meaning.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Kristensen et al. (2023)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30 million posts across eight platforms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URL-sharing networks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Links crossed sources slightly more, but partisan boundaries persisted.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Do not treat an edge as agreement.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61F69-B967-45BE-8941-BEAEBE42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CSMA mid-term, Group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F66A0-9FBD-4471-AB00-EC299CF2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2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91001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30E79-ABC9-4A5B-A697-8A3FB7A6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A5CBB-FCA7-4310-B1AA-231E133E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NLP methods and their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6DD75-AA9F-42AB-A75B-C73E8E35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The model plan starts with transparent baselines and delays classification until human labels exist.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1FC9D-97FB-4461-9585-43F4D738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8946F-A0C9-4990-813C-68EFA0E0F17A}"/>
              </a:ext>
            </a:extLst>
          </p:cNvPr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82375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52625"/>
                <a:gridCol w="2190750"/>
                <a:gridCol w="1905000"/>
                <a:gridCol w="2857500"/>
                <a:gridCol w="2476500"/>
              </a:tblGrid>
              <a:tr h="635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Study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Data or source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Result and limit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we adopt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VADER, Hutto and Gilbert (2014)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Human-rated social-media corpora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Lexicon and valence rules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Interpretable sentiment; cannot identify target or solidarity.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Use as a baseline only.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BERT, Devlin et al. (2019)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BooksCorpus, Wikipedia, 11 NLP tasks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Pretrain then fine-tune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Strong contextual classification; costly and label-dependent.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Fine-tune after codebook validation.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Sentence-BERT (2019)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NLI and semantic-similarity datasets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Siamese sentence embeddings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Fast semantic retrieval; similarity can join opposing views.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Support sampling and theme exploration.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LDA, Blei et al. (2003)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Benchmark document corpora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Probabilistic topic 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Useful topic baseline; bag-of-words and topic-count limits.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Keep human topic interpretation.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BERTopic, Grootendorst (2022)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Public benchmark text corpora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Embeddings, UMAP, HDBSCAN, c-TF-IDF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Coherent topics; sensitive to model and clustering choices.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Compare stability with LDA.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D386F-0967-40A9-8553-92F842DB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CSMA mid-term, Group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E22C7-4225-40EE-8E68-B59BA666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2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283675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5FA225-4982-4967-95C8-9C41AAAB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CORPUS AND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D2571-9D7F-461E-A87B-6787998C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A structured Reddit corpus is ready for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490F6-0E1C-417D-8E94-FB4E16A8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Raw JSON is preserved. Derived tables retain text, thread, reply, and quality states.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6A80C-A5A0-47D8-8764-8011C7AC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63C51-8FE5-4326-AEE1-FC35544C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98906-3000-4265-8962-4BDC2C5F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C33A9-306D-407D-A31C-140B1109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2.97M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C67B3-1757-4391-8A59-7EF99249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total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92F00-50B7-42F6-8D6B-804817BB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2095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71CE9-53E9-4D96-96FA-0E4FE252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3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8A6B7-C7D2-4FC3-91A2-9360A8A0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115,213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A2093-5C80-4B04-8F71-544118CA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670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posts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DB7AD-32BB-42B4-B310-BDDF5651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8120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B23B9-40D5-4F3D-897D-F2112EA3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812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14738-6E36-4692-AAB4-98EA11BB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717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2.86M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9A71F-A473-4C79-BE3F-C749A856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670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comments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AC6D9-4EDE-45F7-B475-0B639816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2667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9D613-8605-4265-BF1E-4731D37A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3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ACBE2-29DF-4FFD-A54C-426FF3CD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7170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94.61%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DBFCE-3948-415A-88D6-C721D07E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comment text available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65008F-CD52-49C8-A3F5-0CC22302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Quality checks completed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922DF5-35FB-4399-8E92-237A3AA3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AD94FC-9722-44B1-8D4A-A25AB957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29,821 JSON batches across 21 monthly folders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BD945E-60E8-41D5-9839-3FBA786D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07FAB2-36F6-465E-BB9E-CB971DC5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 duplicate (kind, id) records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4E6EB-C437-4B75-90E2-87F7D9D8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D2E7CB-B4C3-4380-B1A4-E4D34540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164,271 structural threads reconstructed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CF20F9-8DFD-4B8F-9294-6023FE24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CC1A8A-01F9-47D7-9ABB-8452F79F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2,859,037 reply edges prepared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D22AA0-EEA5-4D73-94FF-5F838578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3810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8F1EE"/>
          </a:solidFill>
          <a:ln xmlns:a="http://schemas.openxmlformats.org/drawingml/2006/main" w="9525">
            <a:solidFill>
              <a:srgbClr val="E8C9B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2C513D-B61C-4B82-B71B-9E2D0556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862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Important scope condition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C2574E-0646-42EE-851F-E74C2A37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8333"/>
          </a:bodyPr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Community coverage ends at different dates. Pooled trends would mix real change with collection change, so the comparison uses a shared observation window.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037197-9ED8-4489-A118-DD98ACD8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CSMA mid-term, Group 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B1A52C-DFE6-4A74-A6B4-84D2369F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2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051733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270CCE-9D15-4E83-841C-DC69D064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E1D71-D825-4AFC-BD89-3A958046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Five stages from collection to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DA1B1-6A18-4B5D-BE75-6C352C10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Retrieval, validation, and interpretation remain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71320-039E-489B-9E77-98DF39CC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44C14-4BEE-4782-997F-774EF07C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91B98-3405-4295-9C7C-BAF15EE4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BAFF2-7FA8-4948-BA30-EFF069B3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Collect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B52DD-885D-4DD6-9075-10B9FEE8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Reddit JSON batches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C3A59-0BFB-4AE0-8425-CFD7724E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D16E8-39C2-45CB-8FB4-C4F41E79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670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E9C7D-5C5E-4094-9E0A-B66C4DDD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003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2E1E8-5BE2-489A-9C4A-1D0F4205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6232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Text, users, threads, replies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8118F-EBC4-46A0-A1CA-149DDD29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4572E-5864-4B24-89A7-BF721F6C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670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55509-51A1-461A-A7D6-C2597B45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03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Screen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1A367-4B90-45F5-9FF2-E0D1A2E6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6232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Six versioned employment facets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3F734-0E73-4CDA-A897-F328FAAA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3F4"/>
          </a:solidFill>
          <a:ln xmlns:a="http://schemas.openxmlformats.org/drawingml/2006/main" w="9525">
            <a:solidFill>
              <a:srgbClr val="0B728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5AF9A-92F7-4E0C-BBEF-AC096A4B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670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82AF2-F6C0-4420-B654-4854FC12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003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FBBD1D-11EA-401E-9294-31CD2554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6232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Shared Jan-May 2025 window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D316DA-7226-45DC-A44A-C61E1A2B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CC4FED-16ED-4830-A4F3-84913A49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670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23AD46-91FE-48E6-970A-5EDA355A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3BF405-EA86-4DBF-A661-AC17C881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6232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Human coding and stance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597D42-571F-430F-B5F4-ED961131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Current stage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FD132E-0ED3-4A49-9228-661993D8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descriptive comparison is complete. Human coding and model evaluation come next. Network interpretation follows validated labels.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4C8869-82A2-469E-9413-E027215C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CSMA mid-term, Group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032AC0-183A-4566-93DD-8D60CC35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2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612974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1D370-043E-489D-81C1-64860E1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1CAF4-E85B-44DF-BC5D-9EFF5A3B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Measurement and validation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3BDE9-6238-464D-8FC9-B023D4AA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Each stage has a defined input, output, and failure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2735C-0448-413C-A0DA-669B36E8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765AA-08B6-4813-B02E-95C195E24C1E}"/>
              </a:ext>
            </a:extLst>
          </p:cNvPr>
          <p:cNvGraphicFramePr/>
          <p:nvPr/>
        </p:nvGraphicFramePr>
        <p:xfrm>
          <a:off xmlns:a="http://schemas.openxmlformats.org/drawingml/2006/main" x="590550" y="2000250"/>
          <a:ext xmlns:a="http://schemas.openxmlformats.org/drawingml/2006/main" cx="11001375" cy="3524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2619375"/>
                <a:gridCol w="3476625"/>
                <a:gridCol w="3095625"/>
              </a:tblGrid>
              <a:tr h="50346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Operation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</a:tr>
              <a:tr h="50346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Corpus QA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Raw JSON batches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Check IDs, dates, text states, parents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Coverage and duplicate reports</a:t>
                      </a:r>
                    </a:p>
                  </a:txBody>
                  <a:tcPr marL="91440" marR="91440" marT="45720" marB="45720"/>
                </a:tc>
              </a:tr>
              <a:tr h="50346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Retrieval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Own text without quotes or URLs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Six versioned lexical screens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Review false positives during coding</a:t>
                      </a:r>
                    </a:p>
                  </a:txBody>
                  <a:tcPr marL="91440" marR="91440" marT="45720" marB="45720"/>
                </a:tc>
              </a:tr>
              <a:tr h="50346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Comparison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Two subreddits, Jan-May 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Rates, ratios, two-proportion 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Report denominator and clustering caveat</a:t>
                      </a:r>
                    </a:p>
                  </a:txBody>
                  <a:tcPr marL="91440" marR="91440" marT="45720" marB="45720"/>
                </a:tc>
              </a:tr>
              <a:tr h="50346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Human coding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Balanced 200-record sample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Double-code an overlap and refine rules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Agreement plus error log</a:t>
                      </a:r>
                    </a:p>
                  </a:txBody>
                  <a:tcPr marL="91440" marR="91440" marT="45720" marB="45720"/>
                </a:tc>
              </a:tr>
              <a:tr h="50346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NLP evaluation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Validated labels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Lexical, VADER, and transformer baselines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Macro F1, class recall, confusion matrix</a:t>
                      </a:r>
                    </a:p>
                  </a:txBody>
                  <a:tcPr marL="91440" marR="91440" marT="45720" marB="45720"/>
                </a:tc>
              </a:tr>
              <a:tr h="50346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Networks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Reply graphs plus coded labels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Components, degree, reciprocity, depth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Interpret edges with text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F7C5D-B966-4857-A4C6-E892396A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Decision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35348-EC37-42ED-8F9A-E75DA687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721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5587"/>
          </a:bodyPr>
          <a:lstStyle xmlns:a="http://schemas.openxmlformats.org/drawingml/2006/main">
            <a:defPPr algn="l">
              <a:defRPr sz="15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No claim about solidarity, blame, polarization, or influence is accepted until a human-coded measure supports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D4BB0-9A60-48E9-8829-78A8406A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CSMA mid-term, Group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93C3F-89A6-40FB-8364-59E5FBB4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2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640144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BE56F6-B86C-47E3-9985-2FD32C92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CONTROLLED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1B6AE-BF21-43F1-A7DA-F86C9F97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904"/>
          </a:bodyPr>
          <a:lstStyle xmlns:a="http://schemas.openxmlformats.org/drawingml/2006/main">
            <a:def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Employment-disruption language is more concentrated in r/cscareerquestions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3E2F1-C2E9-4AAC-A9BA-1D3432D5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Collected comments in the same January-May 2025 window. Rates use all comments as denominators.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902AC-693E-447C-A769-FBF59AE5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14976-C79A-40A0-B9CC-AD97761F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Layoffs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E6B27-FEB3-4122-A3B9-37E55FBC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1508"/>
            <a:ext cx="209550" cy="530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3A574-336C-485C-89DE-6EB3D2CC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15751"/>
            <a:ext cx="209550" cy="467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EC87F-83FD-4D72-8E00-66C11253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2.32%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4E3E7-9B08-43C6-A5CD-BCA1975E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053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0.20%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E722A-FA8B-4DD6-9EA9-83CBCA11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098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Hiring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74490-65F1-4A9F-9953-19CEAB29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20132"/>
            <a:ext cx="209550" cy="1942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5A496-055F-47DC-B560-368873CB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58601"/>
            <a:ext cx="209550" cy="1038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3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F94BF-AB55-4FC3-B08C-7D4E85FA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053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8.50%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5DD83-8420-4D2D-B4AE-1AB74DC6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053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0.45%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2DCDF-6032-4CFB-AE6F-AA153ABA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098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AI/work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0C4C7-C2D6-4ADC-A5CE-86F28BE9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86507"/>
            <a:ext cx="209550" cy="6759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9DFD4-82C3-40A9-B47B-CF1B7524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37364"/>
            <a:ext cx="209550" cy="1251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3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46AC6F-0633-4071-92A5-88F668A1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053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2.96%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44878-ADDF-44CD-8734-8010713C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053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0.55%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D06CB-AFC1-482B-A26C-5037483E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Restructuring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E4DBCA-815F-41CE-BE9E-E2943AEF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26150"/>
            <a:ext cx="209550" cy="23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ED8D62-5DD1-4E69-B142-9925A219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42749"/>
            <a:ext cx="209550" cy="197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3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4947D-0AAF-417D-806A-03E790F4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053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1.03%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D9DB3B-B14C-4F80-9744-3793D1C0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053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0.09%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AC0294-B71C-47E0-BA7B-2EDDC60E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098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Economic/policy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ECDCD2-1B19-4F5B-A3B2-FE612832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49135"/>
            <a:ext cx="209550" cy="31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23DAC1-F4AA-4D22-9573-08C33FD5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06310"/>
            <a:ext cx="209550" cy="56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3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C1D154-A988-4BE9-AA74-1AEEEC42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9053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1.37%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FD4D45-8544-41BE-B360-50D22413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053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0.25%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73E485-B36C-4BEB-8A6C-E7E9AB60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098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Career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63735A-5673-4B7B-8CE7-03F37464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73732"/>
            <a:ext cx="209550" cy="288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5331BF-F88D-4375-A2DB-96D390DE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33834"/>
            <a:ext cx="209550" cy="286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3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0FBBB2-5578-4DDE-850D-DF73B5B9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053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1.26%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6331EB-D9D1-4673-BA6B-45D4DEDA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053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0.13%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3E6F04-4A20-46DA-AA6A-283FD43A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Share of collected comments (%)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43E447-26E0-4FD1-971A-A23FE264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1FBEF5-F00F-4312-9C66-41C604D0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768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r/cscareerquestions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6B87A7-EF0F-4948-A019-9D07E6FE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3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FAC9A4-D919-4C08-B7C0-D548DAAD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768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r/technology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45E782-AAD7-47B8-9E0D-133FEA7D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F1EE"/>
          </a:solidFill>
          <a:ln xmlns:a="http://schemas.openxmlformats.org/drawingml/2006/main" w="9525">
            <a:solidFill>
              <a:srgbClr val="E8C9BE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045251-4D82-4402-8E38-EC2BECA3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81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H1 preliminary result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FF9E05-48DA-463E-91AA-F1451A77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194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878"/>
          </a:bodyPr>
          <a:lstStyle xmlns:a="http://schemas.openxmlformats.org/drawingml/2006/main">
            <a:def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2.32% vs 0.20%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22BAEC-AA22-47A4-872E-49C684EF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52800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Layoff-language share</a:t>
            </a:r>
          </a:p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11.36x rate ratio</a:t>
            </a:r>
          </a:p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 &lt; 0.001*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B16E71-C14C-4F05-80D2-C1008582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243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*Two-proportion test on collected records. Repeated authors and sampling bias remain.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5E1F55-1A4C-46C6-8D04-F5830875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CSMA mid-term, Group 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F173D6-9BE8-4FFF-8048-D83FDB54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2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474385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F3063-E4D4-4F02-AC7B-202AED50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FACET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CED43-679A-4B32-8390-0A30FACA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The contrast extends beyond explicit layoffs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CE7BA-0AC2-4F1E-8ADA-2BAD0F6A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Facet counts overlap because one comment can match more than one employment-disruption screen.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D0009-4C95-45DD-948E-F5BE1C51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0A422-E8F4-4961-A7F3-F4D2887C496E}"/>
              </a:ext>
            </a:extLst>
          </p:cNvPr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76200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1714500"/>
                <a:gridCol w="1619250"/>
                <a:gridCol w="1428750"/>
              </a:tblGrid>
              <a:tr h="4490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Facet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Career questions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Technology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Ratio</a:t>
                      </a:r>
                    </a:p>
                  </a:txBody>
                  <a:tcPr marL="91440" marR="91440" marT="45720" marB="45720">
                    <a:solidFill>
                      <a:srgbClr val="183B56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Hiring conditions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8.50%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0.45%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85C3E"/>
                          </a:solidFill>
                          <a:latin typeface="Aptos"/>
                          <a:ea typeface="Aptos"/>
                          <a:cs typeface="Aptos"/>
                        </a:rPr>
                        <a:t>18.69x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Layoffs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2.32%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0.20%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85C3E"/>
                          </a:solidFill>
                          <a:latin typeface="Aptos"/>
                          <a:ea typeface="Aptos"/>
                          <a:cs typeface="Aptos"/>
                        </a:rPr>
                        <a:t>11.36x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Restructuring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1.03%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0.09%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85C3E"/>
                          </a:solidFill>
                          <a:latin typeface="Aptos"/>
                          <a:ea typeface="Aptos"/>
                          <a:cs typeface="Aptos"/>
                        </a:rPr>
                        <a:t>11.97x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Career transitions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1.26%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0.13%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85C3E"/>
                          </a:solidFill>
                          <a:latin typeface="Aptos"/>
                          <a:ea typeface="Aptos"/>
                          <a:cs typeface="Aptos"/>
                        </a:rPr>
                        <a:t>10.07x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AI and work change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2.96%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0.55%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85C3E"/>
                          </a:solidFill>
                          <a:latin typeface="Aptos"/>
                          <a:ea typeface="Aptos"/>
                          <a:cs typeface="Aptos"/>
                        </a:rPr>
                        <a:t>5.40x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Economic or policy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1.37%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0.25%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C85C3E"/>
                          </a:solidFill>
                          <a:latin typeface="Aptos"/>
                          <a:ea typeface="Aptos"/>
                          <a:cs typeface="Aptos"/>
                        </a:rPr>
                        <a:t>5.58x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F630D-04C5-4CAD-A9DE-91BB18F7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2BE81-27FD-4CCC-8641-DA481E20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05100"/>
            <a:ext cx="2286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5526"/>
          </a:bodyPr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career-focused community contains more language about job search, hiring conditions, and transitions. General technology discussion contains AI/work-change language too, but at a much lower rate in this window.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17B44-517E-4DA8-BF26-0969D3A4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958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>
            <a:defPPr algn="l">
              <a:defRPr sz="15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The result is consistent with different community purposes and audiences.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942AF-4350-4973-B329-5B55EC61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CSMA mid-term, Group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C5238-7B55-46FD-95F1-F41E6DCD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27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578534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386523-0086-4E71-930F-12FB3C39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EXPLORATORY STANCE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9DDD2-3651-4BB9-829A-4E658FAB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A transparent lexical screen is ready for human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103F4-1CD9-44BD-8E90-F213A153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The 200-record reading sample provides a model baseline, not a final sentiment estimate.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65C85-3F35-4DFD-B312-A5C43945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BE41A-E6CF-448E-93CA-F2532F47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Solidarity-leaning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B6F55-DA0C-47C1-A42E-0A566642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05050"/>
            <a:ext cx="53149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F71E5-0DA0-41FF-B3A1-5C918E61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31 (15.5%)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73936-A53C-4AAC-85F9-B4C69EE6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Blame-leaning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A9F3B-CEC1-4F55-AB51-BF9EA5CE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95600"/>
            <a:ext cx="600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3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796F5-93CD-4947-A8C6-2C496D47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35 (17.5%)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2206D-78B2-4971-9130-D3E317D1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Mixed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6F538-5481-4F0B-9F80-11A991FD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86150"/>
            <a:ext cx="2743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B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94AED-9D8A-4778-8687-BF3D27DF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67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16 (8.0%)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4E9B8-BB34-43B4-8060-0355971A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No lexical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C67B5-7845-45F5-A75A-AE0BECC6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76700"/>
            <a:ext cx="20231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6C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A8763-289E-4B9F-A3C6-91EB7C42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57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118 (59.0%)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6AF6B-AEF4-4F9D-91F1-CBD2FD9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Screen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65D14-7B62-4BFA-AD1A-ED105D99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Solidarity terms only: solidarity-leaning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Blame terms only: blame-leaning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Both groups: mixed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Neither group: no lexical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8F24C-9D02-4210-B258-BE212B70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40957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8F1EE"/>
          </a:solidFill>
          <a:ln xmlns:a="http://schemas.openxmlformats.org/drawingml/2006/main" w="9525">
            <a:solidFill>
              <a:srgbClr val="E8C9B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5A181-454B-4F9F-969D-F559741D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67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193E0-5C79-4677-85B0-6479F028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0006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6714"/>
          </a:bodyPr>
          <a:lstStyle xmlns:a="http://schemas.openxmlformats.org/drawingml/2006/main">
            <a:def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Two coders label an overlap, refine definitions, then evaluate VADER and a transformer model against human labels.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37E94-0262-4C97-8FF5-BD24F820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CSMA mid-term, Group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D0E04B-7902-4934-A6BF-892D352F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2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288294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4EA641-2D7A-41F1-8C51-489E2DE5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NETWORK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690E2-65BD-4D51-8EC9-F4046DB0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The dataset supports conversation and author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0DB1F-6114-46E5-9164-9CB8FFD8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Gephi exports are validated. Interpretation waits for text labels.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A7824-2E2D-4AAD-9D24-B174E329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62656-6EFB-42F8-A369-E2059BF8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51A90-2D43-4252-A8DA-708A0A27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E5469-B21C-403E-99DD-8442347C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14,507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A0482-9E68-4709-A75F-0D6762C4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author nodes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F6253-A346-4A26-B2B6-F53485DA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571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57CDB-F470-4F76-9076-CEB35A8C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3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9F4B3-D3C9-46E9-ACEB-A8D8611F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860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15,427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FBDC9-7FAC-43A9-9742-798D2ABE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813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weighted author edges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C1703-68A3-44F7-952F-CA668789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571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A3154-D025-492D-8161-0A3DDAE7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C9AA8-AA97-4AD8-9A1E-833AA5DE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860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13,866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AF1D3-8199-474E-B3A4-E9165F34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conversation nodes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9F8B9-BF8A-4193-9EE1-03BAD7CE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190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BC59CE-DA6B-4EF7-8677-D01FE8DE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3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4B25F-FEE5-413C-959E-C69213D3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8600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13,206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7E7739-35B2-4329-98F5-F2944263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reply edges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C2947-6BCE-4B76-BCEE-0A4B948E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What the edges mean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477AFA-AB63-4DA1-9E3C-ADA34B0D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E3554-DA2D-48C3-B345-D7889009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 replying author connects to the parent author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1D9E90-2B3D-4130-A1B7-B5C9D5AB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D57B8F-1B3D-42C9-92ED-FF7107C5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 conversation comment connects to its immediate parent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9D63C3-42A9-40B0-85DC-5B775011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76D323-E555-4107-8EEE-BA75CAD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Unknown authors and missing parents remain explicit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C6AEF1-CD0C-4A9A-AA5B-7668DB0C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0E6A20-15CC-4326-9C99-9F0C0B25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An edge does not imply agreement or influence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888343-1A85-4130-8D70-B712DB9F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3143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0AF31B-3A95-4374-983B-D1514C42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71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Next analysis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F2FF93-2D83-47CC-8362-C24D34AA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69513"/>
          </a:bodyPr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Join validated narrative and response labels to nodes and edges before discussing polarization, support, or diffusion.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9CE71D-E39F-4C2D-9DC9-2ADB93F8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CSMA mid-term, Group 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93BA05-8EEC-4AB9-875D-B2BC6C05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2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548361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D2AA2C-4CDA-42E4-AE82-7D2C62E6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MID-TERM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F2332-24E7-4C13-8E75-CE6A4535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Community context is the clearest signal so far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48731-7075-46D0-9C0C-121353C8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The comparison answers H1 at a preliminary level and defines the tests still needed for H2 and H3.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AE8AE-7355-4447-BB60-D5F2BCFE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AFA2C-F470-4722-9BDE-FC604B94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3F4"/>
          </a:solidFill>
          <a:ln xmlns:a="http://schemas.openxmlformats.org/drawingml/2006/main" w="9525">
            <a:solidFill>
              <a:srgbClr val="B8D9D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0382D-96F0-462A-AD4E-2F2D8D98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Current inference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6E42E-236E-41DB-8A16-C3C983C4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A3298-AF5F-4EE8-97B8-6BA84838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384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5397"/>
          </a:bodyPr>
          <a:lstStyle xmlns:a="http://schemas.openxmlformats.org/drawingml/2006/main">
            <a:def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Employment-disruption language is more concentrated in r/cscareerquestions.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654D6-70CA-4410-A395-94A729A2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03503-2F57-4FFA-93F2-EACB33BA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337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1760"/>
          </a:bodyPr>
          <a:lstStyle xmlns:a="http://schemas.openxmlformats.org/drawingml/2006/main">
            <a:def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difference appears across all six retrieval facets.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C157A-3155-48C5-925F-1EF4C9B0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290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040D7-22C7-4283-BD32-5BDEE334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290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9079"/>
          </a:bodyPr>
          <a:lstStyle xmlns:a="http://schemas.openxmlformats.org/drawingml/2006/main">
            <a:def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finding describes this corpus and shared window.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66A47-4D4E-4FB8-A333-18BE078E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F1EE"/>
          </a:solidFill>
          <a:ln xmlns:a="http://schemas.openxmlformats.org/drawingml/2006/main" w="9525">
            <a:solidFill>
              <a:srgbClr val="E8C9B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DDB8E-5D3E-4ACE-BAD2-9F093E8C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812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Research 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5CFA2-8AA3-4864-9EFC-F37C602D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384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320FC-0EEB-4780-B43E-607DC2FF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384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5397"/>
          </a:bodyPr>
          <a:lstStyle xmlns:a="http://schemas.openxmlformats.org/drawingml/2006/main">
            <a:def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 single subreddit should not stand in for public sentiment.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E100B-7B54-4282-B495-EC978421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3337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DB990-7BAE-420B-8EDE-CE67B22F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337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5397"/>
          </a:bodyPr>
          <a:lstStyle xmlns:a="http://schemas.openxmlformats.org/drawingml/2006/main">
            <a:def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shared-window design separates community differences from coverage dates.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C6D279-3C1F-4DA8-8497-4DF950D5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8290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85C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85C3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319ED2-DEB5-4B85-BDB7-0E4F608D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290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5397"/>
          </a:bodyPr>
          <a:lstStyle xmlns:a="http://schemas.openxmlformats.org/drawingml/2006/main">
            <a:def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Validated stance labels can show where support needs and blame narratives emerge.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8B60F-4032-4171-B0DA-886399D2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Still pending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CE740-A0E6-4CB4-95CF-093C9521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203"/>
          </a:bodyPr>
          <a:lstStyle xmlns:a="http://schemas.openxmlformats.org/drawingml/2006/main">
            <a:defPPr algn="l">
              <a:defRPr sz="1725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B5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3B56"/>
                </a:solidFill>
                <a:latin typeface="Aptos"/>
                <a:ea typeface="Aptos"/>
                <a:cs typeface="Aptos"/>
              </a:rPr>
              <a:t>Human coding of 200 records, NLP evaluation, theme analysis, and network interpretation. These steps test H2 and H3.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F01C9-62ED-4921-BC42-CAD4F9AA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27D"/>
                </a:solidFill>
                <a:latin typeface="Aptos"/>
                <a:ea typeface="Aptos"/>
                <a:cs typeface="Aptos"/>
              </a:rPr>
              <a:t>CSMA mid-term, Group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8F7024-D569-4BF5-9A3C-6FECD70A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172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2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820851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83B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71FB10-EF27-4CCC-994C-E65C3CE7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3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EBDD3-417C-4801-B3D3-1E4A08F1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2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9CD3D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9CD3D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CD3D8"/>
                </a:solidFill>
                <a:latin typeface="Aptos"/>
                <a:ea typeface="Aptos"/>
                <a:cs typeface="Aptos"/>
              </a:rPr>
              <a:t>TEAM 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2E10E-E4E1-46FD-B7BD-E76B0B62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811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Individual work and the next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2262B-FE71-4AB8-A716-5707F990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9CD3D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9CD3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9CD3D8"/>
                </a:solidFill>
                <a:latin typeface="Aptos"/>
                <a:ea typeface="Aptos"/>
                <a:cs typeface="Aptos"/>
              </a:rPr>
              <a:t>Vanshit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700F7-C761-463C-82D0-A0501734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7645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Archive QA, research design, comparison, hypotheses, interpretation, literature, report and deck, testing, privacy, GitHub release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90220-8BEA-4B48-A487-0C99716B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9CD3D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9CD3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9CD3D8"/>
                </a:solidFill>
                <a:latin typeface="Aptos"/>
                <a:ea typeface="Aptos"/>
                <a:cs typeface="Aptos"/>
              </a:rPr>
              <a:t>Vaibhav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8DEF8-2458-48FF-AE8A-4A03020C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6225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Reddit data collection, raw batches, provenance, and coverage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E8FEC-9DD4-4FB2-BE10-158791DC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9CD3D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9CD3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9CD3D8"/>
                </a:solidFill>
                <a:latin typeface="Aptos"/>
                <a:ea typeface="Aptos"/>
                <a:cs typeface="Aptos"/>
              </a:rPr>
              <a:t>Dividh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37550-5FFC-480B-8EB9-CB6A8714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4805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All Gephi and network work, including node and edge exports, weights, scope, and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99882-A8F4-455B-B1A3-F48BD77A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9CD3D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9CD3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9CD3D8"/>
                </a:solidFill>
                <a:latin typeface="Aptos"/>
                <a:ea typeface="Aptos"/>
                <a:cs typeface="Aptos"/>
              </a:rPr>
              <a:t>Tanya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05692-9215-48F9-A1C1-566FF2B8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3385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cleaning, thread linkage, quality checks, descriptive analysis, comparison, and figures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C37E3-98D3-49C6-BC1E-E63D46BD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9CD3D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9CD3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9CD3D8"/>
                </a:solidFill>
                <a:latin typeface="Aptos"/>
                <a:ea typeface="Aptos"/>
                <a:cs typeface="Aptos"/>
              </a:rPr>
              <a:t>Krish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5BA9F-1434-423E-AD16-1E345235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1965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Lexical and stance baselines, reading sample, coding framework, and NLP evaluation 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1C744-3FE0-49FB-B507-00355FB3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44D67"/>
          </a:solidFill>
          <a:ln xmlns:a="http://schemas.openxmlformats.org/drawingml/2006/main" w="9525">
            <a:solidFill>
              <a:srgbClr val="47748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0BE86-DB49-45DB-8300-54D402E7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9CD3D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9CD3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CD3D8"/>
                </a:solidFill>
                <a:latin typeface="Aptos"/>
                <a:ea typeface="Aptos"/>
                <a:cs typeface="Aptos"/>
              </a:rPr>
              <a:t>Next phase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55386-71A4-40DD-9E0A-2715057A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2667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 Double-code the reading sample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  Evaluate stance models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 Interpret themes with network context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  Add another platform only after comparable collection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8FA44-4BBE-4FB1-9B8A-040F62D7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256AE-2757-4ED2-9F1E-F8E0336A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293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B9D7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9D7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7DD"/>
                </a:solidFill>
                <a:latin typeface="Aptos"/>
                <a:ea typeface="Aptos"/>
                <a:cs typeface="Aptos"/>
              </a:rPr>
              <a:t>CSE3729, Group 1</a:t>
            </a:r>
          </a:p>
        </p:txBody>
      </p:sp>
    </p:spTree>
    <p:extLst>
      <p:ext uri="{BB962C8B-B14F-4D97-AF65-F5344CB8AC3E}">
        <p14:creationId xmlns:p14="http://schemas.microsoft.com/office/powerpoint/2010/main" val="20565845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2026-10-05T18:11:57.5890000Z</dcterms:created>
  <dcterms:modified xsi:type="dcterms:W3CDTF">2026-10-05T18:11:57.5890000Z</dcterms:modified>
</coreProperties>
</file>